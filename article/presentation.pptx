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.svg" ContentType="image/svg+xml"/>
  <Override PartName="/ppt/media/image3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2" r:id="rId10"/>
    <p:sldId id="263" r:id="rId11"/>
    <p:sldId id="265" r:id="rId12"/>
    <p:sldId id="266" r:id="rId13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Добрый день! Меня зовут Дрейман Арсений, я студент 4 курса факультета Информационные технологии МТУСИ.
Тема моей работы — анализ и комбинирование методов прогнозирования исторических финансовых данных.
Научный руководитель — старший преподаватель кафедры Системное программирование Изотова Анастасия Андреевна.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Финансовые временные ряды — это сложные объекты: в них одновременно присутствуют линейные тренды, нелинейные паттерны и кластеризованная волатильность.
Классические методы справляются с этим лишь частично.
ARIMA хорошо описывает линейную составляющую, но не видит нелинейности.
GARCH моделирует волатильность, но не прогнозирует уровень цены.
LSTM и GRU улавливают нелинейные зависимости, но не используют явный статистический тренд.
Вывод — нужно объединить сильные стороны каждого подхода.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Цель работы — повысить точность и устойчивость прогнозов за счёт гибридных архитектур.
Для этого я:
— проанализировал теоретические основы четырёх ключевых методов;
— разработал три новые гибридные архитектуры: ARIMA+GRU, GARCH+LSTM и Triple Hybrid;
— реализовал взвешенный ансамбль;
— создал полноценный программный прототип с REST API и веб-интерфейсом;
— и провёл экспериментальную оценку на реальных биржевых данных.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Кратко о каждом из четырёх базовых методов.
ARIMA — классическая статистическая модель: авторегрессия плюс скользящее среднее. Параметры подбираются автоматически через критерий Акаике.
GARCH — модель условной гетероскедастичности: описывает, как меняется волатильность во времени. Используется как источник признака — условной дисперсии.
LSTM и GRU — рекуррентные нейронные сети с вентилями, способные хранить долгосрочные зависимости. GRU — упрощённая версия LSTM, на 15–20% быстрее при сопоставимом качестве.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Всего в системе реализовано 8 моделей, разделённых по уровням сложности.
Три базовые: ARIMA, GARCH и LSTM.
Три гибридные двухуровневые: ARIMA+LSTM, ARIMA+GRU и GARCH+LSTM.
Трёхуровневый Triple Hybrid — объединяет все три типа методов.
И взвешенный ансамбль — главный результат работы, объединяющий прогнозы всех четырёх классов с автоматически рассчитанными весами.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Программный прототип реализован по трёхуровневой клиент-серверной архитектуре.
Клиент на React — мультипанельный интерфейс с интерактивным графиком, масштабированием и сравнением восьми моделей.
Сервер на FastAPI — REST API с Pydantic-валидацией входных данных.
Модели написаны на Python с использованием TensorFlow, pmdarima и библиотеки arch.
Для российских акций данные берутся напрямую из MOEX ISS API — это позволило обойти ограничения Yahoo Finance, введённые в 2022 году. Горизонт прогноза — до 500 торговых дней.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Теперь к результатам. Все модели тестировались на индексе S&amp;P 500 за период 2015–2024 годов, с walk-forward backtesting и окном в 60 дней.
Три базовые модели показали MAPE от 1,34% у LSTM до 2,14% у GARCH.
Все гибридные модели превзошли LSTM: ARIMA+LSTM — 0,96%, ARIMA+GRU — 0,98%, GARCH+LSTM — 1,09%.
Triple Hybrid — 0,87%, это улучшение на 35% относительно LSTM.
Ensemble — 0,78%, улучшение на 42%. Это лучший результат среди всех восьми моделей.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Подводя итоги.
Разработана система из восьми моделей с полноценным программным прототипом.
Гибридные модели стабильно превосходят одиночные по всем метрикам.
Triple Hybrid снижает MAPE с 1,34% до 0,87%.
Ансамбль — лучший результат: MAPE 0,78%, улучшение на 42% относительно LSTM.
Система работает с российскими и зарубежными активами и поддерживает прогноз до 500 дней.
Направления развития: добавление Transformer-архитектур, онлайн-обучение и макроэкономические факторы.
Спасибо за внимание. Готов ответить на вопросы.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Подводя итоги.
Разработана система из восьми моделей с полноценным программным прототипом.
Гибридные модели стабильно превосходят одиночные по всем метрикам.
Triple Hybrid снижает MAPE с 1,34% до 0,87%.
Ансамбль — лучший результат: MAPE 0,78%, улучшение на 42% относительно LSTM.
Система работает с российскими и зарубежными активами и поддерживает прогноз до 500 дней.
Направления развития: добавление Transformer-архитектур, онлайн-обучение и макроэкономические факторы.
Спасибо за внимание. Готов ответить на вопросы.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7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7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sv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725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chemeClr val="bg1"/>
          </a:solidFill>
          <a:ln w="12700">
            <a:solidFill>
              <a:srgbClr val="F5C842"/>
            </a:solidFill>
            <a:prstDash val="solid"/>
          </a:ln>
        </p:spPr>
      </p:sp>
      <p:pic>
        <p:nvPicPr>
          <p:cNvPr id="3" name="Image 0" descr="/Users/arsendreman/Downloads/МТУСИ §Ѓѓ агб/ЛОГОТИП-а†би®даЃҐ™†-°•Ђл©-агб.sv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p:blipFill>
        <p:spPr>
          <a:xfrm>
            <a:off x="7863840" y="164592"/>
            <a:ext cx="1097280" cy="5120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47472" y="201168"/>
            <a:ext cx="73152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A89FD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Московский технический университет связи и информатики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347472" y="658368"/>
            <a:ext cx="5303520" cy="64008"/>
          </a:xfrm>
          <a:prstGeom prst="rect">
            <a:avLst/>
          </a:prstGeom>
          <a:solidFill>
            <a:schemeClr val="bg1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47472" y="804672"/>
            <a:ext cx="8412480" cy="19202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Анализ и комбинирование методов</a:t>
            </a:r>
            <a:endParaRPr lang="en-US" sz="3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прогнозирования исторических</a:t>
            </a:r>
            <a:endParaRPr lang="en-US" sz="3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финансовых данных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347472" y="2907792"/>
            <a:ext cx="5303520" cy="1325880"/>
          </a:xfrm>
          <a:prstGeom prst="rect">
            <a:avLst/>
          </a:prstGeom>
          <a:solidFill>
            <a:srgbClr val="28176A"/>
          </a:solidFill>
          <a:ln w="12700">
            <a:solidFill>
              <a:srgbClr val="28176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47472" y="2907792"/>
            <a:ext cx="73152" cy="1325880"/>
          </a:xfrm>
          <a:prstGeom prst="rect">
            <a:avLst/>
          </a:prstGeom>
          <a:solidFill>
            <a:schemeClr val="bg1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30352" y="2944368"/>
            <a:ext cx="5029200" cy="56692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A89FD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Студент: </a:t>
            </a: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Дрейман Арсений Игоревич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A89FD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 курс, факультет Информационные технологии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30352" y="3584448"/>
            <a:ext cx="5029200" cy="56692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A89FD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Научный руководитель: </a:t>
            </a: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Изотова А.А.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A89FD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Ст. преподаватель, кафедра Системное программирование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132320" y="4480560"/>
            <a:ext cx="1645920" cy="384048"/>
          </a:xfrm>
          <a:prstGeom prst="rect">
            <a:avLst/>
          </a:prstGeom>
          <a:solidFill>
            <a:schemeClr val="bg1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132320" y="4480560"/>
            <a:ext cx="164592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817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Москва, 2026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858000" y="2560320"/>
            <a:ext cx="320040" cy="320040"/>
          </a:xfrm>
          <a:prstGeom prst="ellipse">
            <a:avLst/>
          </a:prstGeom>
          <a:solidFill>
            <a:srgbClr val="4A32A0">
              <a:alpha val="60000"/>
            </a:srgbClr>
          </a:solidFill>
          <a:ln w="12700">
            <a:solidFill>
              <a:srgbClr val="4A32A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269480" y="2560320"/>
            <a:ext cx="320040" cy="320040"/>
          </a:xfrm>
          <a:prstGeom prst="ellipse">
            <a:avLst/>
          </a:prstGeom>
          <a:solidFill>
            <a:srgbClr val="4A32A0">
              <a:alpha val="60000"/>
            </a:srgbClr>
          </a:solidFill>
          <a:ln w="12700">
            <a:solidFill>
              <a:srgbClr val="4A32A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680960" y="2560320"/>
            <a:ext cx="320040" cy="320040"/>
          </a:xfrm>
          <a:prstGeom prst="ellipse">
            <a:avLst/>
          </a:prstGeom>
          <a:solidFill>
            <a:srgbClr val="4A32A0">
              <a:alpha val="60000"/>
            </a:srgbClr>
          </a:solidFill>
          <a:ln w="12700">
            <a:solidFill>
              <a:srgbClr val="4A32A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092440" y="2560320"/>
            <a:ext cx="320040" cy="320040"/>
          </a:xfrm>
          <a:prstGeom prst="ellipse">
            <a:avLst/>
          </a:prstGeom>
          <a:solidFill>
            <a:srgbClr val="4A32A0">
              <a:alpha val="60000"/>
            </a:srgbClr>
          </a:solidFill>
          <a:ln w="12700">
            <a:solidFill>
              <a:srgbClr val="4A32A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503920" y="2560320"/>
            <a:ext cx="320040" cy="320040"/>
          </a:xfrm>
          <a:prstGeom prst="ellipse">
            <a:avLst/>
          </a:prstGeom>
          <a:solidFill>
            <a:srgbClr val="4A32A0">
              <a:alpha val="60000"/>
            </a:srgbClr>
          </a:solidFill>
          <a:ln w="12700">
            <a:solidFill>
              <a:srgbClr val="4A32A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72579"/>
          </a:solidFill>
          <a:ln w="12700">
            <a:solidFill>
              <a:srgbClr val="37257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chemeClr val="bg1"/>
          </a:solidFill>
          <a:ln w="12700">
            <a:solidFill>
              <a:srgbClr val="F5C842"/>
            </a:solidFill>
            <a:prstDash val="solid"/>
          </a:ln>
        </p:spPr>
        <p:txBody>
          <a:bodyPr/>
          <a:p>
            <a:pPr algn="ctr"/>
            <a:r>
              <a:rPr lang="en-US" sz="1400"/>
              <a:t>2</a:t>
            </a:r>
            <a:endParaRPr lang="en-US" sz="1400"/>
          </a:p>
        </p:txBody>
      </p:sp>
      <p:sp>
        <p:nvSpPr>
          <p:cNvPr id="4" name="Text 2"/>
          <p:cNvSpPr/>
          <p:nvPr/>
        </p:nvSpPr>
        <p:spPr>
          <a:xfrm>
            <a:off x="347472" y="0"/>
            <a:ext cx="749808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Актуальность и постановка задачи</a:t>
            </a:r>
            <a:endParaRPr lang="en-US" sz="2000" dirty="0"/>
          </a:p>
        </p:txBody>
      </p:sp>
      <p:pic>
        <p:nvPicPr>
          <p:cNvPr id="5" name="Image 0" descr="/Users/arsendreman/Downloads/МТУСИ §Ѓѓ агб/ЛОГОТИП-а†би®даЃҐ™†-°•Ђл©-агб.sv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p:blipFill>
        <p:spPr>
          <a:xfrm>
            <a:off x="7863840" y="164592"/>
            <a:ext cx="1097280" cy="51206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E8E4F5"/>
          </a:solidFill>
          <a:ln w="12700">
            <a:solidFill>
              <a:srgbClr val="E8E4F5"/>
            </a:solidFill>
            <a:prstDash val="solid"/>
          </a:ln>
        </p:spPr>
        <p:txBody>
          <a:bodyPr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274320" y="4773168"/>
            <a:ext cx="85953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817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МТУСИ  |  Дрейман А.И.  |  2026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292608" y="1078992"/>
            <a:ext cx="8558784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5E0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02920" y="1143000"/>
            <a:ext cx="8138160" cy="9692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817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Проблема:</a:t>
            </a:r>
            <a:r>
              <a:rPr lang="en-US" sz="13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Финансовые временные ряды содержат одновременно линейные тренды, нелинейные паттерны и кластеризованную волатильность — ни один классический метод не описывает всё это в одиночку.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292608" y="2377440"/>
            <a:ext cx="2697480" cy="1645920"/>
          </a:xfrm>
          <a:prstGeom prst="rect">
            <a:avLst/>
          </a:prstGeom>
          <a:solidFill>
            <a:srgbClr val="4A32A0"/>
          </a:solidFill>
          <a:ln w="12700">
            <a:solidFill>
              <a:srgbClr val="4A32A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92608" y="2377440"/>
            <a:ext cx="109728" cy="1645920"/>
          </a:xfrm>
          <a:prstGeom prst="rect">
            <a:avLst/>
          </a:prstGeom>
          <a:solidFill>
            <a:schemeClr val="bg1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93776" y="2423160"/>
            <a:ext cx="24231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ARIMA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93776" y="2816352"/>
            <a:ext cx="2423160" cy="10972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 dirty="0">
                <a:solidFill>
                  <a:srgbClr val="D4CFE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Хорошо → линейная составляющая</a:t>
            </a:r>
            <a:endParaRPr lang="en-US" sz="11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100" dirty="0">
                <a:solidFill>
                  <a:srgbClr val="D4CFE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Плохо → нелинейные паттерны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172968" y="2377440"/>
            <a:ext cx="2697480" cy="1645920"/>
          </a:xfrm>
          <a:prstGeom prst="rect">
            <a:avLst/>
          </a:prstGeom>
          <a:solidFill>
            <a:srgbClr val="4A32A0"/>
          </a:solidFill>
          <a:ln w="12700">
            <a:solidFill>
              <a:srgbClr val="4A32A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172968" y="2377440"/>
            <a:ext cx="109728" cy="1645920"/>
          </a:xfrm>
          <a:prstGeom prst="rect">
            <a:avLst/>
          </a:prstGeom>
          <a:solidFill>
            <a:schemeClr val="bg1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374136" y="2423160"/>
            <a:ext cx="24231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GARCH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3374136" y="2816352"/>
            <a:ext cx="2423160" cy="10972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 dirty="0">
                <a:solidFill>
                  <a:srgbClr val="D4CFE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Хорошо → моделирует волатильность</a:t>
            </a:r>
            <a:endParaRPr lang="en-US" sz="11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100" dirty="0">
                <a:solidFill>
                  <a:srgbClr val="D4CFE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Плохо → прогноз цены (не уровня)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053328" y="2377440"/>
            <a:ext cx="2697480" cy="1645920"/>
          </a:xfrm>
          <a:prstGeom prst="rect">
            <a:avLst/>
          </a:prstGeom>
          <a:solidFill>
            <a:srgbClr val="4A32A0"/>
          </a:solidFill>
          <a:ln w="12700">
            <a:solidFill>
              <a:srgbClr val="4A32A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053328" y="2377440"/>
            <a:ext cx="109728" cy="1645920"/>
          </a:xfrm>
          <a:prstGeom prst="rect">
            <a:avLst/>
          </a:prstGeom>
          <a:solidFill>
            <a:schemeClr val="bg1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254496" y="2423160"/>
            <a:ext cx="24231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LSTM / GRU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6254496" y="2816352"/>
            <a:ext cx="2423160" cy="10972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 dirty="0">
                <a:solidFill>
                  <a:srgbClr val="D4CFE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Хорошо → нелинейные зависимости</a:t>
            </a:r>
            <a:endParaRPr lang="en-US" sz="11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100" dirty="0">
                <a:solidFill>
                  <a:srgbClr val="D4CFE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Плохо → нет явного учёта тренда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292608" y="4160520"/>
            <a:ext cx="8558784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817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  Решение: объединить сильные стороны каждого подхода в гибридную модель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725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chemeClr val="bg1"/>
          </a:solidFill>
          <a:ln w="12700">
            <a:solidFill>
              <a:srgbClr val="F5C842"/>
            </a:solidFill>
            <a:prstDash val="solid"/>
          </a:ln>
        </p:spPr>
        <p:txBody>
          <a:bodyPr/>
          <a:p>
            <a:pPr algn="ctr"/>
            <a:r>
              <a:rPr lang="en-US" sz="1400"/>
              <a:t>3</a:t>
            </a:r>
            <a:endParaRPr lang="en-US" sz="1400"/>
          </a:p>
        </p:txBody>
      </p:sp>
      <p:pic>
        <p:nvPicPr>
          <p:cNvPr id="3" name="Image 0" descr="/Users/arsendreman/Downloads/МТУСИ §Ѓѓ агб/ЛОГОТИП-а†би®даЃҐ™†-°•Ђл©-агб.sv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p:blipFill>
        <p:spPr>
          <a:xfrm>
            <a:off x="7863840" y="164592"/>
            <a:ext cx="1097280" cy="5120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" y="219456"/>
            <a:ext cx="731520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Цель и задачи исследования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28176A"/>
          </a:solidFill>
          <a:ln w="12700">
            <a:solidFill>
              <a:srgbClr val="28176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74320" y="4773168"/>
            <a:ext cx="85953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89FD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МТУСИ  |  Дрейман А.И.  |  2026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347472" y="914400"/>
            <a:ext cx="8430768" cy="640080"/>
          </a:xfrm>
          <a:prstGeom prst="rect">
            <a:avLst/>
          </a:prstGeom>
          <a:solidFill>
            <a:schemeClr val="bg1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75488" y="932688"/>
            <a:ext cx="8229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817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ЦЕЛЬ:  Повысить точность прогнозирования финансовых временных рядов за счёт гибридных архитектур, объединяющих статистические методы с глубоким обучением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47472" y="1737360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47472" y="1737360"/>
            <a:ext cx="38404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817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22960" y="1737360"/>
            <a:ext cx="795528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Проанализировать теоретические основы методов ARIMA, GARCH, LSTM, GRU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47472" y="2304288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47472" y="2304288"/>
            <a:ext cx="38404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817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22960" y="2304288"/>
            <a:ext cx="795528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Разработать три гибридных архитектуры: ARIMA+GRU, GARCH+LSTM, Triple Hybrid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347472" y="2871216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47472" y="2871216"/>
            <a:ext cx="38404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817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300" b="1" dirty="0">
              <a:solidFill>
                <a:srgbClr val="28176A"/>
              </a:solidFill>
              <a:latin typeface="Montserrat" pitchFamily="34" charset="0"/>
              <a:ea typeface="Montserrat" pitchFamily="34" charset="-122"/>
              <a:cs typeface="Montserrat" pitchFamily="34" charset="-12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822960" y="2871216"/>
            <a:ext cx="795528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Реализовать взвешенный ансамбль всех классов моделей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347472" y="3438144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47472" y="3438144"/>
            <a:ext cx="38404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817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822960" y="3438144"/>
            <a:ext cx="795528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Создать программный прототип с REST API и веб-интерфейсом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347472" y="4005072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47472" y="4005072"/>
            <a:ext cx="38404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817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822960" y="4005072"/>
            <a:ext cx="795528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Провести экспериментальную оценку на реальных рыночных данных (MAE, RMSE, MAPE)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72579"/>
          </a:solidFill>
          <a:ln w="12700">
            <a:solidFill>
              <a:srgbClr val="37257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chemeClr val="bg1"/>
          </a:solidFill>
          <a:ln w="12700">
            <a:solidFill>
              <a:srgbClr val="F5C842"/>
            </a:solidFill>
            <a:prstDash val="solid"/>
          </a:ln>
        </p:spPr>
        <p:txBody>
          <a:bodyPr/>
          <a:p>
            <a:pPr algn="ctr"/>
            <a:r>
              <a:rPr lang="en-US" sz="1400"/>
              <a:t>4</a:t>
            </a:r>
            <a:endParaRPr lang="en-US" sz="1400"/>
          </a:p>
        </p:txBody>
      </p:sp>
      <p:sp>
        <p:nvSpPr>
          <p:cNvPr id="4" name="Text 2"/>
          <p:cNvSpPr/>
          <p:nvPr/>
        </p:nvSpPr>
        <p:spPr>
          <a:xfrm>
            <a:off x="347472" y="0"/>
            <a:ext cx="749808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Теоретическая основа: 4 ключевых метода</a:t>
            </a:r>
            <a:endParaRPr lang="en-US" sz="2000" dirty="0"/>
          </a:p>
        </p:txBody>
      </p:sp>
      <p:pic>
        <p:nvPicPr>
          <p:cNvPr id="5" name="Image 0" descr="/Users/arsendreman/Downloads/МТУСИ §Ѓѓ агб/ЛОГОТИП-а†би®даЃҐ™†-°•Ђл©-агб.sv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p:blipFill>
        <p:spPr>
          <a:xfrm>
            <a:off x="7863840" y="164592"/>
            <a:ext cx="1097280" cy="51206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E8E4F5"/>
          </a:solidFill>
          <a:ln w="12700">
            <a:solidFill>
              <a:srgbClr val="E8E4F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4320" y="4773168"/>
            <a:ext cx="85953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817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МТУСИ  |  Дрейман А.И.  |  2026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228600" y="1051560"/>
            <a:ext cx="2084832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0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28600" y="1051560"/>
            <a:ext cx="2084832" cy="548640"/>
          </a:xfrm>
          <a:prstGeom prst="rect">
            <a:avLst/>
          </a:prstGeom>
          <a:solidFill>
            <a:srgbClr val="372579"/>
          </a:solidFill>
          <a:ln w="12700">
            <a:solidFill>
              <a:srgbClr val="37257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040" y="1078992"/>
            <a:ext cx="1901952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ARIMA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20040" y="1426464"/>
            <a:ext cx="1828800" cy="201168"/>
          </a:xfrm>
          <a:prstGeom prst="rect">
            <a:avLst/>
          </a:prstGeom>
          <a:solidFill>
            <a:schemeClr val="bg1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20040" y="1426464"/>
            <a:ext cx="18288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817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Статистика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320040" y="1719072"/>
            <a:ext cx="1901952" cy="2651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✔ Линейный тренд и авторегрессия</a:t>
            </a:r>
            <a:endParaRPr lang="en-US" sz="10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✔ Автоподбор через AIC (pmdarima)</a:t>
            </a:r>
            <a:endParaRPr lang="en-US" sz="10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✘ Не фиксирует нелинейность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2441448" y="1051560"/>
            <a:ext cx="2084832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0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2441448" y="1051560"/>
            <a:ext cx="2084832" cy="548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532888" y="1078992"/>
            <a:ext cx="1901952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GARCH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2532888" y="1426464"/>
            <a:ext cx="1828800" cy="201168"/>
          </a:xfrm>
          <a:prstGeom prst="rect">
            <a:avLst/>
          </a:prstGeom>
          <a:solidFill>
            <a:schemeClr val="bg1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532888" y="1426464"/>
            <a:ext cx="18288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817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Волатильность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2532888" y="1719072"/>
            <a:ext cx="1901952" cy="2651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✔ Кластеризация волатильности</a:t>
            </a:r>
            <a:endParaRPr lang="en-US" sz="10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✔ Условная дисперсия σ²(t) как признак</a:t>
            </a:r>
            <a:endParaRPr lang="en-US" sz="10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✘ Не прогнозирует уровень цены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4654296" y="1051560"/>
            <a:ext cx="2084832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0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654296" y="1051560"/>
            <a:ext cx="2084832" cy="54864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745736" y="1078992"/>
            <a:ext cx="1901952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LSTM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4745736" y="1426464"/>
            <a:ext cx="1828800" cy="201168"/>
          </a:xfrm>
          <a:prstGeom prst="rect">
            <a:avLst/>
          </a:prstGeom>
          <a:solidFill>
            <a:schemeClr val="bg1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745736" y="1426464"/>
            <a:ext cx="18288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817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Глубокое обучение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4745736" y="1719072"/>
            <a:ext cx="1901952" cy="2651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✔ Долгосрочные зависимости</a:t>
            </a:r>
            <a:endParaRPr lang="en-US" sz="10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✔ 3 вентиля (input / forget / output)</a:t>
            </a:r>
            <a:endParaRPr lang="en-US" sz="10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✔ Эффективен на длинных рядах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6867144" y="1051560"/>
            <a:ext cx="2084832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0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6867144" y="1051560"/>
            <a:ext cx="2084832" cy="5486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958584" y="1078992"/>
            <a:ext cx="1901952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GRU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958584" y="1426464"/>
            <a:ext cx="1828800" cy="201168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958584" y="1426464"/>
            <a:ext cx="1828800" cy="201168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817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Глубокое обучение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6958584" y="1719072"/>
            <a:ext cx="1901952" cy="2651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✔ Упрощённый LSTM (2 вентиля)</a:t>
            </a:r>
            <a:endParaRPr lang="en-US" sz="10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✔ Быстрее обучается на 15–20%</a:t>
            </a:r>
            <a:endParaRPr lang="en-US" sz="10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✔ Сопоставимое качество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72579"/>
          </a:solidFill>
          <a:ln w="12700">
            <a:solidFill>
              <a:srgbClr val="37257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chemeClr val="bg1"/>
          </a:solidFill>
          <a:ln w="12700">
            <a:solidFill>
              <a:srgbClr val="F5C842"/>
            </a:solidFill>
            <a:prstDash val="solid"/>
          </a:ln>
        </p:spPr>
        <p:txBody>
          <a:bodyPr/>
          <a:p>
            <a:pPr algn="ctr"/>
            <a:r>
              <a:rPr lang="en-US" sz="1400"/>
              <a:t>5</a:t>
            </a:r>
            <a:endParaRPr lang="en-US" sz="1400"/>
          </a:p>
        </p:txBody>
      </p:sp>
      <p:sp>
        <p:nvSpPr>
          <p:cNvPr id="4" name="Text 2"/>
          <p:cNvSpPr/>
          <p:nvPr/>
        </p:nvSpPr>
        <p:spPr>
          <a:xfrm>
            <a:off x="347472" y="0"/>
            <a:ext cx="749808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 реализованных моделей: от базовых к ансамблю</a:t>
            </a:r>
            <a:endParaRPr lang="en-US" sz="2000" dirty="0"/>
          </a:p>
        </p:txBody>
      </p:sp>
      <p:pic>
        <p:nvPicPr>
          <p:cNvPr id="5" name="Image 0" descr="/Users/arsendreman/Downloads/МТУСИ §Ѓѓ агб/ЛОГОТИП-а†би®даЃҐ™†-°•Ђл©-агб.sv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p:blipFill>
        <p:spPr>
          <a:xfrm>
            <a:off x="7863840" y="164592"/>
            <a:ext cx="1097280" cy="51206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E8E4F5"/>
          </a:solidFill>
          <a:ln w="12700">
            <a:solidFill>
              <a:srgbClr val="E8E4F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4320" y="4773168"/>
            <a:ext cx="85953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817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МТУСИ  |  Дрейман А.И.  |  2026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292608" y="1005840"/>
            <a:ext cx="1371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A89FD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БАЗОВЫЕ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92608" y="1353312"/>
            <a:ext cx="1417320" cy="43891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292608" y="1353312"/>
            <a:ext cx="141732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ARIMA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1865376" y="1353312"/>
            <a:ext cx="1417320" cy="43891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1865376" y="1353312"/>
            <a:ext cx="141732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GARCH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438144" y="1353312"/>
            <a:ext cx="1417320" cy="43891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3438144" y="1353312"/>
            <a:ext cx="141732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LSTM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292608" y="1993392"/>
            <a:ext cx="25603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A89FD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ГИБРИДНЫЕ (2 уровня)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292608" y="2304288"/>
            <a:ext cx="2011680" cy="475488"/>
          </a:xfrm>
          <a:prstGeom prst="rect">
            <a:avLst/>
          </a:prstGeom>
          <a:solidFill>
            <a:srgbClr val="4A32A0"/>
          </a:solidFill>
          <a:ln w="12700">
            <a:solidFill>
              <a:srgbClr val="4A32A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292608" y="2304288"/>
            <a:ext cx="201168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ARIMA + LSTM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2505456" y="2304288"/>
            <a:ext cx="2011680" cy="475488"/>
          </a:xfrm>
          <a:prstGeom prst="rect">
            <a:avLst/>
          </a:prstGeom>
          <a:solidFill>
            <a:srgbClr val="4A32A0"/>
          </a:solidFill>
          <a:ln w="12700">
            <a:solidFill>
              <a:srgbClr val="4A32A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2505456" y="2304288"/>
            <a:ext cx="201168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ARIMA + GRU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18304" y="2304288"/>
            <a:ext cx="2011680" cy="475488"/>
          </a:xfrm>
          <a:prstGeom prst="rect">
            <a:avLst/>
          </a:prstGeom>
          <a:solidFill>
            <a:srgbClr val="4A32A0"/>
          </a:solidFill>
          <a:ln w="12700">
            <a:solidFill>
              <a:srgbClr val="4A32A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4718304" y="2304288"/>
            <a:ext cx="201168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GARCH + LSTM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292608" y="2971800"/>
            <a:ext cx="29260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A89FD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ТРЁХУРОВНЕВЫЙ ГИБРИД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292608" y="3291840"/>
            <a:ext cx="4663440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292608" y="3291840"/>
            <a:ext cx="46634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Triple Hybrid  (ARIMA + GARCH + LSTM)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5120640" y="3292475"/>
            <a:ext cx="3657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2817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ŷ = ŷ_ARIMA + LSTM([e¹, σ²])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292608" y="3913632"/>
            <a:ext cx="1371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A89FD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АНСАМБЛЬ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201168" y="4224528"/>
            <a:ext cx="6583680" cy="548640"/>
          </a:xfrm>
          <a:prstGeom prst="rect">
            <a:avLst/>
          </a:prstGeom>
          <a:solidFill>
            <a:schemeClr val="bg1"/>
          </a:solidFill>
          <a:ln w="12700">
            <a:solidFill>
              <a:srgbClr val="F5C84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384048" y="4224528"/>
            <a:ext cx="64008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817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Weighted Ensemble</a:t>
            </a:r>
            <a:endParaRPr lang="en-US" sz="1250" dirty="0"/>
          </a:p>
        </p:txBody>
      </p:sp>
      <p:sp>
        <p:nvSpPr>
          <p:cNvPr id="29" name="Text 26"/>
          <p:cNvSpPr/>
          <p:nvPr/>
        </p:nvSpPr>
        <p:spPr>
          <a:xfrm>
            <a:off x="7040880" y="4224528"/>
            <a:ext cx="17373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C84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★ ЛУЧШИЙ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72579"/>
          </a:solidFill>
          <a:ln w="12700">
            <a:solidFill>
              <a:srgbClr val="37257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chemeClr val="bg1"/>
          </a:solidFill>
          <a:ln w="12700">
            <a:solidFill>
              <a:srgbClr val="F5C842"/>
            </a:solidFill>
            <a:prstDash val="solid"/>
          </a:ln>
        </p:spPr>
        <p:txBody>
          <a:bodyPr/>
          <a:p>
            <a:pPr algn="ctr"/>
            <a:r>
              <a:rPr lang="en-US" sz="1400"/>
              <a:t>6</a:t>
            </a:r>
            <a:endParaRPr lang="en-US" sz="1400"/>
          </a:p>
        </p:txBody>
      </p:sp>
      <p:sp>
        <p:nvSpPr>
          <p:cNvPr id="4" name="Text 2"/>
          <p:cNvSpPr/>
          <p:nvPr/>
        </p:nvSpPr>
        <p:spPr>
          <a:xfrm>
            <a:off x="347472" y="0"/>
            <a:ext cx="749808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Программный прототип системы</a:t>
            </a:r>
            <a:endParaRPr lang="en-US" sz="2000" dirty="0"/>
          </a:p>
        </p:txBody>
      </p:sp>
      <p:pic>
        <p:nvPicPr>
          <p:cNvPr id="5" name="Image 0" descr="/Users/arsendreman/Downloads/МТУСИ §Ѓѓ агб/ЛОГОТИП-а†би®даЃҐ™†-°•Ђл©-агб.sv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p:blipFill>
        <p:spPr>
          <a:xfrm>
            <a:off x="7863840" y="164592"/>
            <a:ext cx="1097280" cy="51206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E8E4F5"/>
          </a:solidFill>
          <a:ln w="12700">
            <a:solidFill>
              <a:srgbClr val="E8E4F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4320" y="4773168"/>
            <a:ext cx="85953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817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МТУСИ  |  Дрейман А.И.  |  2026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255905" y="1024255"/>
            <a:ext cx="2724785" cy="3044190"/>
          </a:xfrm>
          <a:prstGeom prst="rect">
            <a:avLst/>
          </a:prstGeom>
          <a:solidFill>
            <a:srgbClr val="FFFFFF"/>
          </a:solidFill>
          <a:ln w="6350">
            <a:solidFill>
              <a:srgbClr val="E5E0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56032" y="1024128"/>
            <a:ext cx="2724912" cy="47548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65760" y="1051560"/>
            <a:ext cx="250545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Клиент (React)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20624" y="1691640"/>
            <a:ext cx="118872" cy="118872"/>
          </a:xfrm>
          <a:prstGeom prst="ellipse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03504" y="1645920"/>
            <a:ext cx="22860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Мультипанельный интерфейс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20624" y="2240280"/>
            <a:ext cx="118872" cy="118872"/>
          </a:xfrm>
          <a:prstGeom prst="ellipse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3504" y="2194560"/>
            <a:ext cx="22860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Интерактивный график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20624" y="2788920"/>
            <a:ext cx="118872" cy="118872"/>
          </a:xfrm>
          <a:prstGeom prst="ellipse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03504" y="2743200"/>
            <a:ext cx="22860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Zoom / Pan / Scrollbar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20624" y="3337560"/>
            <a:ext cx="118872" cy="118872"/>
          </a:xfrm>
          <a:prstGeom prst="ellipse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03504" y="3291840"/>
            <a:ext cx="22860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Сравнение 8 моделей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3044952" y="2286000"/>
            <a:ext cx="201168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7257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↔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3163570" y="1024255"/>
            <a:ext cx="2724785" cy="3044190"/>
          </a:xfrm>
          <a:prstGeom prst="rect">
            <a:avLst/>
          </a:prstGeom>
          <a:solidFill>
            <a:srgbClr val="FFFFFF"/>
          </a:solidFill>
          <a:ln w="6350">
            <a:solidFill>
              <a:srgbClr val="E5E0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3163824" y="1024128"/>
            <a:ext cx="2724912" cy="475488"/>
          </a:xfrm>
          <a:prstGeom prst="rect">
            <a:avLst/>
          </a:prstGeom>
          <a:solidFill>
            <a:srgbClr val="372579"/>
          </a:solidFill>
          <a:ln w="12700">
            <a:solidFill>
              <a:srgbClr val="372579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273552" y="1051560"/>
            <a:ext cx="250545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API (FastAPI)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3328416" y="1691640"/>
            <a:ext cx="118872" cy="118872"/>
          </a:xfrm>
          <a:prstGeom prst="ellipse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511296" y="1645920"/>
            <a:ext cx="22860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POST /api/forecast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3328416" y="2240280"/>
            <a:ext cx="118872" cy="118872"/>
          </a:xfrm>
          <a:prstGeom prst="ellipse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511296" y="2194560"/>
            <a:ext cx="22860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GET /api/compare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3328416" y="2788920"/>
            <a:ext cx="118872" cy="118872"/>
          </a:xfrm>
          <a:prstGeom prst="ellipse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511296" y="2743200"/>
            <a:ext cx="22860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GET /api/data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5952744" y="2286000"/>
            <a:ext cx="201168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7257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↔</a:t>
            </a:r>
            <a:endParaRPr lang="en-US" sz="1800" dirty="0"/>
          </a:p>
        </p:txBody>
      </p:sp>
      <p:sp>
        <p:nvSpPr>
          <p:cNvPr id="32" name="Shape 29"/>
          <p:cNvSpPr/>
          <p:nvPr/>
        </p:nvSpPr>
        <p:spPr>
          <a:xfrm>
            <a:off x="6071870" y="974725"/>
            <a:ext cx="2724785" cy="30937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0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>
            <a:off x="6071616" y="1024128"/>
            <a:ext cx="2724912" cy="47548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181344" y="1051560"/>
            <a:ext cx="250545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Модели (Python)</a:t>
            </a:r>
            <a:endParaRPr lang="en-US" sz="1300" dirty="0"/>
          </a:p>
        </p:txBody>
      </p:sp>
      <p:sp>
        <p:nvSpPr>
          <p:cNvPr id="35" name="Shape 32"/>
          <p:cNvSpPr/>
          <p:nvPr/>
        </p:nvSpPr>
        <p:spPr>
          <a:xfrm>
            <a:off x="6236208" y="1691640"/>
            <a:ext cx="118872" cy="118872"/>
          </a:xfrm>
          <a:prstGeom prst="ellipse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419088" y="1645920"/>
            <a:ext cx="22860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TensorFlow / Keras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6236208" y="2240280"/>
            <a:ext cx="118872" cy="118872"/>
          </a:xfrm>
          <a:prstGeom prst="ellipse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419088" y="2194560"/>
            <a:ext cx="22860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Walk-forward test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6236208" y="2788920"/>
            <a:ext cx="118872" cy="118872"/>
          </a:xfrm>
          <a:prstGeom prst="ellipse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6419088" y="2743200"/>
            <a:ext cx="22860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Сценарии до 500 дней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338582" y="4260850"/>
            <a:ext cx="41605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5E0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4" name="Shape 41"/>
          <p:cNvSpPr/>
          <p:nvPr/>
        </p:nvSpPr>
        <p:spPr>
          <a:xfrm>
            <a:off x="338582" y="4260850"/>
            <a:ext cx="109728" cy="475488"/>
          </a:xfrm>
          <a:prstGeom prst="rect">
            <a:avLst/>
          </a:prstGeom>
          <a:solidFill>
            <a:schemeClr val="bg1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539750" y="4279138"/>
            <a:ext cx="384048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817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MOEX ISS API — акции РФ (.ME тикеры)  |  Актуальные данные в реальном времени</a:t>
            </a:r>
            <a:endParaRPr lang="en-US" sz="1050" dirty="0"/>
          </a:p>
        </p:txBody>
      </p:sp>
      <p:sp>
        <p:nvSpPr>
          <p:cNvPr id="46" name="Shape 43"/>
          <p:cNvSpPr/>
          <p:nvPr/>
        </p:nvSpPr>
        <p:spPr>
          <a:xfrm>
            <a:off x="4681728" y="4260850"/>
            <a:ext cx="41605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5E0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7" name="Shape 44"/>
          <p:cNvSpPr/>
          <p:nvPr/>
        </p:nvSpPr>
        <p:spPr>
          <a:xfrm>
            <a:off x="4681728" y="4260850"/>
            <a:ext cx="109728" cy="475488"/>
          </a:xfrm>
          <a:prstGeom prst="rect">
            <a:avLst/>
          </a:prstGeom>
          <a:solidFill>
            <a:schemeClr val="bg1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4882896" y="4279138"/>
            <a:ext cx="384048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0E749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yfinance — NYSE, NASDAQ, S&amp;P 500  |  Зарубежные активы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72579"/>
          </a:solidFill>
          <a:ln w="12700">
            <a:solidFill>
              <a:srgbClr val="37257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chemeClr val="bg1"/>
          </a:solidFill>
          <a:ln w="12700">
            <a:solidFill>
              <a:srgbClr val="F5C842"/>
            </a:solidFill>
            <a:prstDash val="solid"/>
          </a:ln>
        </p:spPr>
        <p:txBody>
          <a:bodyPr/>
          <a:p>
            <a:pPr algn="ctr"/>
            <a:r>
              <a:rPr lang="en-US" sz="1400"/>
              <a:t>7</a:t>
            </a:r>
            <a:endParaRPr lang="en-US" sz="1400"/>
          </a:p>
        </p:txBody>
      </p:sp>
      <p:sp>
        <p:nvSpPr>
          <p:cNvPr id="4" name="Text 2"/>
          <p:cNvSpPr/>
          <p:nvPr/>
        </p:nvSpPr>
        <p:spPr>
          <a:xfrm>
            <a:off x="347472" y="0"/>
            <a:ext cx="749808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Экспериментальные результаты (S&amp;P 500, 2015–2024)</a:t>
            </a:r>
            <a:endParaRPr lang="en-US" sz="2000" dirty="0"/>
          </a:p>
        </p:txBody>
      </p:sp>
      <p:pic>
        <p:nvPicPr>
          <p:cNvPr id="5" name="Image 0" descr="/Users/arsendreman/Downloads/МТУСИ §Ѓѓ агб/ЛОГОТИП-а†би®даЃҐ™†-°•Ђл©-агб.sv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p:blipFill>
        <p:spPr>
          <a:xfrm>
            <a:off x="7863840" y="164592"/>
            <a:ext cx="1097280" cy="51206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E8E4F5"/>
          </a:solidFill>
          <a:ln w="12700">
            <a:solidFill>
              <a:srgbClr val="E8E4F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4320" y="4773168"/>
            <a:ext cx="85953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817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МТУСИ  |  Дрейман А.И.  |  2026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/>
        </p:nvGraphicFramePr>
        <p:xfrm>
          <a:off x="256032" y="987552"/>
          <a:ext cx="6949440" cy="3632835"/>
        </p:xfrm>
        <a:graphic>
          <a:graphicData uri="http://schemas.openxmlformats.org/drawingml/2006/table">
            <a:tbl>
              <a:tblPr/>
              <a:tblGrid>
                <a:gridCol w="2194560"/>
                <a:gridCol w="1097280"/>
                <a:gridCol w="1097280"/>
                <a:gridCol w="1097280"/>
                <a:gridCol w="1463040"/>
              </a:tblGrid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Модель</a:t>
                      </a:r>
                      <a:endParaRPr lang="en-US" sz="1100" dirty="0">
                        <a:latin typeface="Montserrat" pitchFamily="34" charset="0"/>
                        <a:ea typeface="Montserrat" pitchFamily="34" charset="0"/>
                        <a:cs typeface="Montserrat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25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MAE</a:t>
                      </a:r>
                      <a:endParaRPr lang="en-US" sz="1100" dirty="0">
                        <a:latin typeface="Montserrat" pitchFamily="34" charset="0"/>
                        <a:ea typeface="Montserrat" pitchFamily="34" charset="0"/>
                        <a:cs typeface="Montserrat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25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RMSE</a:t>
                      </a:r>
                      <a:endParaRPr lang="en-US" sz="1100" dirty="0">
                        <a:latin typeface="Montserrat" pitchFamily="34" charset="0"/>
                        <a:ea typeface="Montserrat" pitchFamily="34" charset="0"/>
                        <a:cs typeface="Montserrat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25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MAPE, %</a:t>
                      </a:r>
                      <a:endParaRPr lang="en-US" sz="1100" dirty="0">
                        <a:latin typeface="Montserrat" pitchFamily="34" charset="0"/>
                        <a:ea typeface="Montserrat" pitchFamily="34" charset="0"/>
                        <a:cs typeface="Montserrat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25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Улучш. vs LSTM</a:t>
                      </a:r>
                      <a:endParaRPr lang="en-US" sz="1100" dirty="0">
                        <a:latin typeface="Montserrat" pitchFamily="34" charset="0"/>
                        <a:ea typeface="Montserrat" pitchFamily="34" charset="0"/>
                        <a:cs typeface="Montserrat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257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ARIMA</a:t>
                      </a:r>
                      <a:endParaRPr lang="en-US" sz="1100" dirty="0">
                        <a:latin typeface="Montserrat" pitchFamily="34" charset="0"/>
                        <a:ea typeface="Montserrat" pitchFamily="34" charset="0"/>
                        <a:cs typeface="Montserrat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52,3</a:t>
                      </a:r>
                      <a:endParaRPr lang="en-US" sz="1100" dirty="0">
                        <a:latin typeface="Montserrat" pitchFamily="34" charset="0"/>
                        <a:ea typeface="Montserrat" pitchFamily="34" charset="0"/>
                        <a:cs typeface="Montserrat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71,8</a:t>
                      </a:r>
                      <a:endParaRPr lang="en-US" sz="1100" dirty="0">
                        <a:latin typeface="Montserrat" pitchFamily="34" charset="0"/>
                        <a:ea typeface="Montserrat" pitchFamily="34" charset="0"/>
                        <a:cs typeface="Montserrat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1,82</a:t>
                      </a:r>
                      <a:endParaRPr lang="en-US" sz="1100" dirty="0">
                        <a:latin typeface="Montserrat" pitchFamily="34" charset="0"/>
                        <a:ea typeface="Montserrat" pitchFamily="34" charset="0"/>
                        <a:cs typeface="Montserrat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−35,8%</a:t>
                      </a:r>
                      <a:endParaRPr lang="en-US" sz="1100" dirty="0">
                        <a:latin typeface="Montserrat" pitchFamily="34" charset="0"/>
                        <a:ea typeface="Montserrat" pitchFamily="34" charset="0"/>
                        <a:cs typeface="Montserrat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GARCH</a:t>
                      </a:r>
                      <a:endParaRPr lang="en-US" sz="1100" dirty="0">
                        <a:latin typeface="Montserrat" pitchFamily="34" charset="0"/>
                        <a:ea typeface="Montserrat" pitchFamily="34" charset="0"/>
                        <a:cs typeface="Montserrat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61,7</a:t>
                      </a:r>
                      <a:endParaRPr lang="en-US" sz="1100" dirty="0">
                        <a:latin typeface="Montserrat" pitchFamily="34" charset="0"/>
                        <a:ea typeface="Montserrat" pitchFamily="34" charset="0"/>
                        <a:cs typeface="Montserrat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84,2</a:t>
                      </a:r>
                      <a:endParaRPr lang="en-US" sz="1100" dirty="0">
                        <a:latin typeface="Montserrat" pitchFamily="34" charset="0"/>
                        <a:ea typeface="Montserrat" pitchFamily="34" charset="0"/>
                        <a:cs typeface="Montserrat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2,14</a:t>
                      </a:r>
                      <a:endParaRPr lang="en-US" sz="1100" dirty="0">
                        <a:latin typeface="Montserrat" pitchFamily="34" charset="0"/>
                        <a:ea typeface="Montserrat" pitchFamily="34" charset="0"/>
                        <a:cs typeface="Montserrat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−59,7%</a:t>
                      </a:r>
                      <a:endParaRPr lang="en-US" sz="1100" dirty="0">
                        <a:latin typeface="Montserrat" pitchFamily="34" charset="0"/>
                        <a:ea typeface="Montserrat" pitchFamily="34" charset="0"/>
                        <a:cs typeface="Montserrat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LSTM (baseline)</a:t>
                      </a:r>
                      <a:endParaRPr lang="en-US" sz="1100" dirty="0">
                        <a:latin typeface="Montserrat" pitchFamily="34" charset="0"/>
                        <a:ea typeface="Montserrat" pitchFamily="34" charset="0"/>
                        <a:cs typeface="Montserrat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38,6</a:t>
                      </a:r>
                      <a:endParaRPr lang="en-US" sz="1100" dirty="0">
                        <a:latin typeface="Montserrat" pitchFamily="34" charset="0"/>
                        <a:ea typeface="Montserrat" pitchFamily="34" charset="0"/>
                        <a:cs typeface="Montserrat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56,4</a:t>
                      </a:r>
                      <a:endParaRPr lang="en-US" sz="1100" dirty="0">
                        <a:latin typeface="Montserrat" pitchFamily="34" charset="0"/>
                        <a:ea typeface="Montserrat" pitchFamily="34" charset="0"/>
                        <a:cs typeface="Montserrat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1,34</a:t>
                      </a:r>
                      <a:endParaRPr lang="en-US" sz="1100" dirty="0">
                        <a:latin typeface="Montserrat" pitchFamily="34" charset="0"/>
                        <a:ea typeface="Montserrat" pitchFamily="34" charset="0"/>
                        <a:cs typeface="Montserrat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baseline</a:t>
                      </a:r>
                      <a:endParaRPr lang="en-US" sz="1100" dirty="0">
                        <a:latin typeface="Montserrat" pitchFamily="34" charset="0"/>
                        <a:ea typeface="Montserrat" pitchFamily="34" charset="0"/>
                        <a:cs typeface="Montserrat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ARIMA + GRU</a:t>
                      </a:r>
                      <a:endParaRPr lang="en-US" sz="1100" dirty="0">
                        <a:latin typeface="Montserrat" pitchFamily="34" charset="0"/>
                        <a:ea typeface="Montserrat" pitchFamily="34" charset="0"/>
                        <a:cs typeface="Montserrat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28,1</a:t>
                      </a:r>
                      <a:endParaRPr lang="en-US" sz="1100" dirty="0">
                        <a:latin typeface="Montserrat" pitchFamily="34" charset="0"/>
                        <a:ea typeface="Montserrat" pitchFamily="34" charset="0"/>
                        <a:cs typeface="Montserrat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42,5</a:t>
                      </a:r>
                      <a:endParaRPr lang="en-US" sz="1100" dirty="0">
                        <a:latin typeface="Montserrat" pitchFamily="34" charset="0"/>
                        <a:ea typeface="Montserrat" pitchFamily="34" charset="0"/>
                        <a:cs typeface="Montserrat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0,98</a:t>
                      </a:r>
                      <a:endParaRPr lang="en-US" sz="1100" dirty="0">
                        <a:latin typeface="Montserrat" pitchFamily="34" charset="0"/>
                        <a:ea typeface="Montserrat" pitchFamily="34" charset="0"/>
                        <a:cs typeface="Montserrat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+26,9%</a:t>
                      </a:r>
                      <a:endParaRPr lang="en-US" sz="1100" dirty="0">
                        <a:latin typeface="Montserrat" pitchFamily="34" charset="0"/>
                        <a:ea typeface="Montserrat" pitchFamily="34" charset="0"/>
                        <a:cs typeface="Montserrat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40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GARCH + LSTM</a:t>
                      </a:r>
                      <a:endParaRPr lang="en-US" sz="1100" dirty="0">
                        <a:latin typeface="Montserrat" pitchFamily="34" charset="0"/>
                        <a:ea typeface="Montserrat" pitchFamily="34" charset="0"/>
                        <a:cs typeface="Montserrat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31,2</a:t>
                      </a:r>
                      <a:endParaRPr lang="en-US" sz="1100" dirty="0">
                        <a:latin typeface="Montserrat" pitchFamily="34" charset="0"/>
                        <a:ea typeface="Montserrat" pitchFamily="34" charset="0"/>
                        <a:cs typeface="Montserrat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46,7</a:t>
                      </a:r>
                      <a:endParaRPr lang="en-US" sz="1100" dirty="0">
                        <a:latin typeface="Montserrat" pitchFamily="34" charset="0"/>
                        <a:ea typeface="Montserrat" pitchFamily="34" charset="0"/>
                        <a:cs typeface="Montserrat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1,09</a:t>
                      </a:r>
                      <a:endParaRPr lang="en-US" sz="1100" dirty="0">
                        <a:latin typeface="Montserrat" pitchFamily="34" charset="0"/>
                        <a:ea typeface="Montserrat" pitchFamily="34" charset="0"/>
                        <a:cs typeface="Montserrat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+18,7%</a:t>
                      </a:r>
                      <a:endParaRPr lang="en-US" sz="1100" dirty="0">
                        <a:latin typeface="Montserrat" pitchFamily="34" charset="0"/>
                        <a:ea typeface="Montserrat" pitchFamily="34" charset="0"/>
                        <a:cs typeface="Montserrat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ARIMA + LSTM</a:t>
                      </a:r>
                      <a:endParaRPr lang="en-US" sz="1100" dirty="0">
                        <a:latin typeface="Montserrat" pitchFamily="34" charset="0"/>
                        <a:ea typeface="Montserrat" pitchFamily="34" charset="0"/>
                        <a:cs typeface="Montserrat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27,4</a:t>
                      </a:r>
                      <a:endParaRPr lang="en-US" sz="1100" dirty="0">
                        <a:latin typeface="Montserrat" pitchFamily="34" charset="0"/>
                        <a:ea typeface="Montserrat" pitchFamily="34" charset="0"/>
                        <a:cs typeface="Montserrat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41,2</a:t>
                      </a:r>
                      <a:endParaRPr lang="en-US" sz="1100" dirty="0">
                        <a:latin typeface="Montserrat" pitchFamily="34" charset="0"/>
                        <a:ea typeface="Montserrat" pitchFamily="34" charset="0"/>
                        <a:cs typeface="Montserrat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0,96</a:t>
                      </a:r>
                      <a:endParaRPr lang="en-US" sz="1100" dirty="0">
                        <a:latin typeface="Montserrat" pitchFamily="34" charset="0"/>
                        <a:ea typeface="Montserrat" pitchFamily="34" charset="0"/>
                        <a:cs typeface="Montserrat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+28,4%</a:t>
                      </a:r>
                      <a:endParaRPr lang="en-US" sz="1100" dirty="0">
                        <a:latin typeface="Montserrat" pitchFamily="34" charset="0"/>
                        <a:ea typeface="Montserrat" pitchFamily="34" charset="0"/>
                        <a:cs typeface="Montserrat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7C3AED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Triple Hybrid</a:t>
                      </a:r>
                      <a:endParaRPr lang="en-US" sz="1100" dirty="0">
                        <a:latin typeface="Montserrat" pitchFamily="34" charset="0"/>
                        <a:ea typeface="Montserrat" pitchFamily="34" charset="0"/>
                        <a:cs typeface="Montserrat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24,8</a:t>
                      </a:r>
                      <a:endParaRPr lang="en-US" sz="1100" dirty="0">
                        <a:latin typeface="Montserrat" pitchFamily="34" charset="0"/>
                        <a:ea typeface="Montserrat" pitchFamily="34" charset="0"/>
                        <a:cs typeface="Montserrat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38,1</a:t>
                      </a:r>
                      <a:endParaRPr lang="en-US" sz="1100" dirty="0">
                        <a:latin typeface="Montserrat" pitchFamily="34" charset="0"/>
                        <a:ea typeface="Montserrat" pitchFamily="34" charset="0"/>
                        <a:cs typeface="Montserrat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0,87</a:t>
                      </a:r>
                      <a:endParaRPr lang="en-US" sz="1100" dirty="0">
                        <a:latin typeface="Montserrat" pitchFamily="34" charset="0"/>
                        <a:ea typeface="Montserrat" pitchFamily="34" charset="0"/>
                        <a:cs typeface="Montserrat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+35,1%</a:t>
                      </a:r>
                      <a:endParaRPr lang="en-US" sz="1100" dirty="0">
                        <a:latin typeface="Montserrat" pitchFamily="34" charset="0"/>
                        <a:ea typeface="Montserrat" pitchFamily="34" charset="0"/>
                        <a:cs typeface="Montserrat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8176A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Ensemble ★</a:t>
                      </a:r>
                      <a:endParaRPr lang="en-US" sz="1100" dirty="0">
                        <a:latin typeface="Montserrat" pitchFamily="34" charset="0"/>
                        <a:ea typeface="Montserrat" pitchFamily="34" charset="0"/>
                        <a:cs typeface="Montserrat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22,3</a:t>
                      </a:r>
                      <a:endParaRPr lang="en-US" sz="1100" dirty="0">
                        <a:latin typeface="Montserrat" pitchFamily="34" charset="0"/>
                        <a:ea typeface="Montserrat" pitchFamily="34" charset="0"/>
                        <a:cs typeface="Montserrat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34,9</a:t>
                      </a:r>
                      <a:endParaRPr lang="en-US" sz="1100" dirty="0">
                        <a:latin typeface="Montserrat" pitchFamily="34" charset="0"/>
                        <a:ea typeface="Montserrat" pitchFamily="34" charset="0"/>
                        <a:cs typeface="Montserrat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0,78</a:t>
                      </a:r>
                      <a:endParaRPr lang="en-US" sz="1100" dirty="0">
                        <a:latin typeface="Montserrat" pitchFamily="34" charset="0"/>
                        <a:ea typeface="Montserrat" pitchFamily="34" charset="0"/>
                        <a:cs typeface="Montserrat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+41,8%</a:t>
                      </a:r>
                      <a:endParaRPr lang="en-US" sz="1100" dirty="0">
                        <a:latin typeface="Montserrat" pitchFamily="34" charset="0"/>
                        <a:ea typeface="Montserrat" pitchFamily="34" charset="0"/>
                        <a:cs typeface="Montserrat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7278370" y="1076960"/>
            <a:ext cx="1682750" cy="198755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A89FD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Тестовая выборка: 20% данных · Walk-forward backtesting · Окно: 60 торговых дней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725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chemeClr val="bg1"/>
          </a:solidFill>
          <a:ln w="12700">
            <a:solidFill>
              <a:srgbClr val="F5C842"/>
            </a:solidFill>
            <a:prstDash val="solid"/>
          </a:ln>
        </p:spPr>
        <p:txBody>
          <a:bodyPr/>
          <a:p>
            <a:pPr algn="ctr"/>
            <a:r>
              <a:rPr lang="en-US" sz="1400"/>
              <a:t>8</a:t>
            </a:r>
            <a:endParaRPr lang="en-US" sz="1400"/>
          </a:p>
        </p:txBody>
      </p:sp>
      <p:pic>
        <p:nvPicPr>
          <p:cNvPr id="3" name="Image 0" descr="/Users/arsendreman/Downloads/МТУСИ §Ѓѓ агб/ЛОГОТИП-а†би®даЃҐ™†-°•Ђл©-агб.sv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p:blipFill>
        <p:spPr>
          <a:xfrm>
            <a:off x="7863840" y="164592"/>
            <a:ext cx="1097280" cy="5120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" y="219456"/>
            <a:ext cx="731520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Выводы и результаты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28176A"/>
          </a:solidFill>
          <a:ln w="12700">
            <a:solidFill>
              <a:srgbClr val="28176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74320" y="4773168"/>
            <a:ext cx="85953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89FD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МТУСИ  |  Дрейман А.И.  |  2026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347472" y="987552"/>
            <a:ext cx="8430768" cy="566928"/>
          </a:xfrm>
          <a:prstGeom prst="rect">
            <a:avLst/>
          </a:prstGeom>
          <a:solidFill>
            <a:srgbClr val="28176A"/>
          </a:solidFill>
          <a:ln w="6350">
            <a:solidFill>
              <a:srgbClr val="4A389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47472" y="987552"/>
            <a:ext cx="73152" cy="566928"/>
          </a:xfrm>
          <a:prstGeom prst="rect">
            <a:avLst/>
          </a:prstGeom>
          <a:solidFill>
            <a:schemeClr val="bg1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30352" y="1005840"/>
            <a:ext cx="813816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Разработана система из 8 моделей — от ARIMA до взвешенного ансамбля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47472" y="1664208"/>
            <a:ext cx="8430768" cy="566928"/>
          </a:xfrm>
          <a:prstGeom prst="rect">
            <a:avLst/>
          </a:prstGeom>
          <a:solidFill>
            <a:srgbClr val="311B6B"/>
          </a:solidFill>
          <a:ln w="6350">
            <a:solidFill>
              <a:srgbClr val="4A389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47472" y="1664208"/>
            <a:ext cx="73152" cy="566928"/>
          </a:xfrm>
          <a:prstGeom prst="rect">
            <a:avLst/>
          </a:prstGeom>
          <a:solidFill>
            <a:schemeClr val="bg1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30352" y="1682496"/>
            <a:ext cx="813816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Гибридные модели превосходят одиночные по всем метрикам MAE, RMSE, MAPE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347472" y="2340864"/>
            <a:ext cx="8430768" cy="566928"/>
          </a:xfrm>
          <a:prstGeom prst="rect">
            <a:avLst/>
          </a:prstGeom>
          <a:solidFill>
            <a:srgbClr val="28176A"/>
          </a:solidFill>
          <a:ln w="6350">
            <a:solidFill>
              <a:srgbClr val="4A389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47472" y="2340864"/>
            <a:ext cx="73152" cy="566928"/>
          </a:xfrm>
          <a:prstGeom prst="rect">
            <a:avLst/>
          </a:prstGeom>
          <a:solidFill>
            <a:schemeClr val="bg1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30352" y="2359152"/>
            <a:ext cx="813816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Triple Hybrid снижает MAPE с 1,34% до 0,87%   (+35% к точности vs LSTM)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347472" y="3017520"/>
            <a:ext cx="8430768" cy="566928"/>
          </a:xfrm>
          <a:prstGeom prst="rect">
            <a:avLst/>
          </a:prstGeom>
          <a:solidFill>
            <a:srgbClr val="311B6B"/>
          </a:solidFill>
          <a:ln w="6350">
            <a:solidFill>
              <a:srgbClr val="4A389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47472" y="3017520"/>
            <a:ext cx="73152" cy="566928"/>
          </a:xfrm>
          <a:prstGeom prst="rect">
            <a:avLst/>
          </a:prstGeom>
          <a:solidFill>
            <a:schemeClr val="bg1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30352" y="3035808"/>
            <a:ext cx="813816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Ensemble достигает MAPE = 0,78%   (+42% к точности vs LSTM)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347472" y="3694176"/>
            <a:ext cx="8430768" cy="566928"/>
          </a:xfrm>
          <a:prstGeom prst="rect">
            <a:avLst/>
          </a:prstGeom>
          <a:solidFill>
            <a:srgbClr val="28176A"/>
          </a:solidFill>
          <a:ln w="6350">
            <a:solidFill>
              <a:srgbClr val="4A389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47472" y="3694176"/>
            <a:ext cx="73152" cy="566928"/>
          </a:xfrm>
          <a:prstGeom prst="rect">
            <a:avLst/>
          </a:prstGeom>
          <a:solidFill>
            <a:schemeClr val="bg1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30352" y="3712464"/>
            <a:ext cx="813816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Реализован прототип: React + FastAPI + MOEX ISS / yfinance, до 500 дней прогноза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347472" y="4443984"/>
            <a:ext cx="8430768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A89FD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Направления развития: Transformer / TFT, онлайн-обучение, макроэкономические факторы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725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chemeClr val="bg1"/>
          </a:solidFill>
          <a:ln w="12700">
            <a:solidFill>
              <a:srgbClr val="F5C842"/>
            </a:solidFill>
            <a:prstDash val="solid"/>
          </a:ln>
        </p:spPr>
      </p:sp>
      <p:pic>
        <p:nvPicPr>
          <p:cNvPr id="3" name="Image 0" descr="/Users/arsendreman/Downloads/МТУСИ §Ѓѓ агб/ЛОГОТИП-а†би®даЃҐ™†-°•Ђл©-агб.sv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863840" y="164592"/>
            <a:ext cx="1097280" cy="51206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28176A"/>
          </a:solidFill>
          <a:ln w="12700">
            <a:solidFill>
              <a:srgbClr val="28176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74320" y="4773168"/>
            <a:ext cx="85953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89FD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МТУСИ  |  Дрейман А.И.  |  2026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30352" y="1005840"/>
            <a:ext cx="813816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30352" y="1682496"/>
            <a:ext cx="813816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530352" y="2359152"/>
            <a:ext cx="813816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530352" y="3035808"/>
            <a:ext cx="813816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530352" y="3712464"/>
            <a:ext cx="813816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250" dirty="0"/>
          </a:p>
        </p:txBody>
      </p:sp>
      <p:sp>
        <p:nvSpPr>
          <p:cNvPr id="23" name="Text Box 22"/>
          <p:cNvSpPr txBox="1"/>
          <p:nvPr/>
        </p:nvSpPr>
        <p:spPr>
          <a:xfrm>
            <a:off x="1563370" y="641350"/>
            <a:ext cx="6630035" cy="9334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ru-RU" altLang="en-US" sz="4400">
                <a:solidFill>
                  <a:schemeClr val="bg1"/>
                </a:solidFill>
              </a:rPr>
              <a:t>Спасибо за внимание </a:t>
            </a:r>
            <a:endParaRPr lang="ru-RU" altLang="en-US" sz="4400">
              <a:solidFill>
                <a:schemeClr val="bg1"/>
              </a:solidFill>
            </a:endParaRPr>
          </a:p>
        </p:txBody>
      </p:sp>
      <p:pic>
        <p:nvPicPr>
          <p:cNvPr id="24" name="Picture 23" descr="qrcode_328729080_13c9dc926d7324b2aba287c3618154c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8690" y="1864995"/>
            <a:ext cx="2165985" cy="2165985"/>
          </a:xfrm>
          <a:prstGeom prst="rect">
            <a:avLst/>
          </a:prstGeom>
        </p:spPr>
      </p:pic>
      <p:sp>
        <p:nvSpPr>
          <p:cNvPr id="25" name="Text Box 24"/>
          <p:cNvSpPr txBox="1"/>
          <p:nvPr/>
        </p:nvSpPr>
        <p:spPr>
          <a:xfrm>
            <a:off x="2852420" y="4088130"/>
            <a:ext cx="40519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ru-RU" altLang="en-US">
                <a:solidFill>
                  <a:schemeClr val="bg1"/>
                </a:solidFill>
              </a:rPr>
              <a:t>ссылка на </a:t>
            </a:r>
            <a:r>
              <a:rPr lang="en-US" altLang="ru-RU">
                <a:solidFill>
                  <a:schemeClr val="bg1"/>
                </a:solidFill>
              </a:rPr>
              <a:t>GitHub </a:t>
            </a:r>
            <a:r>
              <a:rPr lang="ru-RU" altLang="en-US">
                <a:solidFill>
                  <a:schemeClr val="bg1"/>
                </a:solidFill>
              </a:rPr>
              <a:t>репозиторий </a:t>
            </a:r>
            <a:endParaRPr lang="ru-RU" altLang="en-US">
              <a:solidFill>
                <a:schemeClr val="bg1"/>
              </a:solidFill>
            </a:endParaRPr>
          </a:p>
        </p:txBody>
      </p:sp>
      <p:sp>
        <p:nvSpPr>
          <p:cNvPr id="27" name="Text Box 26"/>
          <p:cNvSpPr txBox="1"/>
          <p:nvPr/>
        </p:nvSpPr>
        <p:spPr>
          <a:xfrm>
            <a:off x="7122795" y="4456430"/>
            <a:ext cx="304800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ru-RU" sz="1200">
                <a:solidFill>
                  <a:schemeClr val="bg1"/>
                </a:solidFill>
              </a:rPr>
              <a:t>arcen.dreyman@bk.ru</a:t>
            </a:r>
            <a:endParaRPr lang="en-US" altLang="ru-RU" sz="12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3592</Words>
  <Application>WPS Writer</Application>
  <PresentationFormat>On-screen Show (16:9)</PresentationFormat>
  <Paragraphs>303</Paragraphs>
  <Slides>9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9</vt:i4>
      </vt:variant>
    </vt:vector>
  </HeadingPairs>
  <TitlesOfParts>
    <vt:vector size="26" baseType="lpstr">
      <vt:lpstr>Arial</vt:lpstr>
      <vt:lpstr>SimSun</vt:lpstr>
      <vt:lpstr>Wingdings</vt:lpstr>
      <vt:lpstr>Montserrat</vt:lpstr>
      <vt:lpstr>苹方-简</vt:lpstr>
      <vt:lpstr>Montserrat</vt:lpstr>
      <vt:lpstr>Montserrat</vt:lpstr>
      <vt:lpstr>Arial</vt:lpstr>
      <vt:lpstr>Calibri</vt:lpstr>
      <vt:lpstr>Helvetica Neue</vt:lpstr>
      <vt:lpstr>Microsoft YaHei</vt:lpstr>
      <vt:lpstr>汉仪旗黑</vt:lpstr>
      <vt:lpstr>Arial Unicode MS</vt:lpstr>
      <vt:lpstr>宋体-简</vt:lpstr>
      <vt:lpstr>Geneva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Анализ и комбинирование методов прогнозирования исторических финансовых данных</dc:title>
  <dc:creator>Дрейман Арсений Игоревич</dc:creator>
  <dc:subject>PptxGenJS Presentation</dc:subject>
  <cp:lastModifiedBy>ArsenDreman</cp:lastModifiedBy>
  <cp:revision>16</cp:revision>
  <dcterms:created xsi:type="dcterms:W3CDTF">2026-04-04T07:23:10Z</dcterms:created>
  <dcterms:modified xsi:type="dcterms:W3CDTF">2026-04-04T07:23:10Z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A174288F5AF7C09DEF0AD06936A79D96_42</vt:lpwstr>
  </property>
  <property fmtid="{D5CDD505-2E9C-101B-9397-08002B2CF9AE}" pid="3" name="KSOProductBuildVer">
    <vt:lpwstr>1033-12.1.23135.23135</vt:lpwstr>
  </property>
</Properties>
</file>